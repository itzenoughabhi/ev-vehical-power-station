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10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Responses</c:v>
                </c:pt>
              </c:strCache>
            </c:strRef>
          </c:tx>
          <c:dPt>
            <c:idx val="0"/>
            <c:bubble3D val="0"/>
            <c:spPr>
              <a:solidFill>
                <a:srgbClr val="3467C9"/>
              </a:solidFill>
              <a:ln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83A4-484B-88A3-104B95F89E74}"/>
              </c:ext>
            </c:extLst>
          </c:dPt>
          <c:dPt>
            <c:idx val="1"/>
            <c:bubble3D val="0"/>
            <c:spPr>
              <a:solidFill>
                <a:srgbClr val="DB381D"/>
              </a:solidFill>
              <a:ln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83A4-484B-88A3-104B95F89E74}"/>
              </c:ext>
            </c:extLst>
          </c:dPt>
          <c:dPt>
            <c:idx val="2"/>
            <c:bubble3D val="0"/>
            <c:spPr>
              <a:solidFill>
                <a:srgbClr val="FF9900"/>
              </a:solidFill>
              <a:ln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83A4-484B-88A3-104B95F89E74}"/>
              </c:ext>
            </c:extLst>
          </c:dPt>
          <c:dPt>
            <c:idx val="3"/>
            <c:bubble3D val="0"/>
            <c:spPr>
              <a:solidFill>
                <a:srgbClr val="129625"/>
              </a:solidFill>
              <a:ln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7-83A4-484B-88A3-104B95F89E7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/>
                </a:pPr>
                <a:endParaRPr lang="en-US"/>
              </a:p>
            </c:txPr>
            <c:dLblPos val="bestFit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Every 6 months</c:v>
                </c:pt>
                <c:pt idx="1">
                  <c:v>Once a year</c:v>
                </c:pt>
                <c:pt idx="2">
                  <c:v>Only when sick</c:v>
                </c:pt>
                <c:pt idx="3">
                  <c:v>Rarely/Never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5.0999999999999996</c:v>
                </c:pt>
                <c:pt idx="1">
                  <c:v>24.1</c:v>
                </c:pt>
                <c:pt idx="2">
                  <c:v>50.6</c:v>
                </c:pt>
                <c:pt idx="3">
                  <c:v>20.3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3A4-484B-88A3-104B95F89E74}"/>
            </c:ext>
          </c:extLst>
        </c:ser>
        <c:dLbls>
          <c:dLblPos val="bestFit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</c:plotArea>
    <c:legend>
      <c:legendPos val="r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10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Responses</c:v>
                </c:pt>
              </c:strCache>
            </c:strRef>
          </c:tx>
          <c:dPt>
            <c:idx val="0"/>
            <c:bubble3D val="0"/>
            <c:spPr>
              <a:solidFill>
                <a:srgbClr val="3467C9"/>
              </a:solidFill>
              <a:ln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2DF1-4563-82BC-DD354B33B0C4}"/>
              </c:ext>
            </c:extLst>
          </c:dPt>
          <c:dPt>
            <c:idx val="1"/>
            <c:bubble3D val="0"/>
            <c:spPr>
              <a:solidFill>
                <a:srgbClr val="DB381D"/>
              </a:solidFill>
              <a:ln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2DF1-4563-82BC-DD354B33B0C4}"/>
              </c:ext>
            </c:extLst>
          </c:dPt>
          <c:dPt>
            <c:idx val="2"/>
            <c:bubble3D val="0"/>
            <c:spPr>
              <a:solidFill>
                <a:srgbClr val="FF9900"/>
              </a:solidFill>
              <a:ln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2DF1-4563-82BC-DD354B33B0C4}"/>
              </c:ext>
            </c:extLst>
          </c:dPt>
          <c:dPt>
            <c:idx val="3"/>
            <c:bubble3D val="0"/>
            <c:spPr>
              <a:solidFill>
                <a:srgbClr val="129625"/>
              </a:solidFill>
              <a:ln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7-2DF1-4563-82BC-DD354B33B0C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/>
                </a:pPr>
                <a:endParaRPr lang="en-US"/>
              </a:p>
            </c:txPr>
            <c:dLblPos val="bestFit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Always</c:v>
                </c:pt>
                <c:pt idx="1">
                  <c:v>Usually</c:v>
                </c:pt>
                <c:pt idx="2">
                  <c:v>Sometimes</c:v>
                </c:pt>
                <c:pt idx="3">
                  <c:v>Rarely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26.9</c:v>
                </c:pt>
                <c:pt idx="1">
                  <c:v>39.700000000000003</c:v>
                </c:pt>
                <c:pt idx="2">
                  <c:v>28.2</c:v>
                </c:pt>
                <c:pt idx="3">
                  <c:v>5.0999999999999996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DF1-4563-82BC-DD354B33B0C4}"/>
            </c:ext>
          </c:extLst>
        </c:ser>
        <c:dLbls>
          <c:dLblPos val="bestFit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</c:plotArea>
    <c:legend>
      <c:legendPos val="r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10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Responses</c:v>
                </c:pt>
              </c:strCache>
            </c:strRef>
          </c:tx>
          <c:dPt>
            <c:idx val="0"/>
            <c:bubble3D val="0"/>
            <c:spPr>
              <a:solidFill>
                <a:srgbClr val="3467C9"/>
              </a:solidFill>
              <a:ln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9C8E-4E39-8C01-A0C807089B56}"/>
              </c:ext>
            </c:extLst>
          </c:dPt>
          <c:dPt>
            <c:idx val="1"/>
            <c:bubble3D val="0"/>
            <c:spPr>
              <a:solidFill>
                <a:srgbClr val="DB381D"/>
              </a:solidFill>
              <a:ln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9C8E-4E39-8C01-A0C807089B56}"/>
              </c:ext>
            </c:extLst>
          </c:dPt>
          <c:dPt>
            <c:idx val="2"/>
            <c:bubble3D val="0"/>
            <c:spPr>
              <a:solidFill>
                <a:srgbClr val="FF9900"/>
              </a:solidFill>
              <a:ln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9C8E-4E39-8C01-A0C807089B56}"/>
              </c:ext>
            </c:extLst>
          </c:dPt>
          <c:dPt>
            <c:idx val="3"/>
            <c:bubble3D val="0"/>
            <c:spPr>
              <a:solidFill>
                <a:srgbClr val="129625"/>
              </a:solidFill>
              <a:ln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7-9C8E-4E39-8C01-A0C807089B5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/>
                </a:pPr>
                <a:endParaRPr lang="en-US"/>
              </a:p>
            </c:txPr>
            <c:dLblPos val="bestFit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Daily</c:v>
                </c:pt>
                <c:pt idx="1">
                  <c:v>3–5 days/week</c:v>
                </c:pt>
                <c:pt idx="2">
                  <c:v>1–2 days/week</c:v>
                </c:pt>
                <c:pt idx="3">
                  <c:v>Rarely/Never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11.5</c:v>
                </c:pt>
                <c:pt idx="1">
                  <c:v>16.7</c:v>
                </c:pt>
                <c:pt idx="2">
                  <c:v>35.9</c:v>
                </c:pt>
                <c:pt idx="3">
                  <c:v>35.9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C8E-4E39-8C01-A0C807089B56}"/>
            </c:ext>
          </c:extLst>
        </c:ser>
        <c:dLbls>
          <c:dLblPos val="bestFit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</c:plotArea>
    <c:legend>
      <c:legendPos val="r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10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Responses</c:v>
                </c:pt>
              </c:strCache>
            </c:strRef>
          </c:tx>
          <c:invertIfNegative val="1"/>
          <c:cat>
            <c:strRef>
              <c:f>Sheet1!$A$2:$A$7</c:f>
              <c:strCache>
                <c:ptCount val="6"/>
                <c:pt idx="0">
                  <c:v>Cost of treatment</c:v>
                </c:pt>
                <c:pt idx="1">
                  <c:v>Lack of nearby facility</c:v>
                </c:pt>
                <c:pt idx="2">
                  <c:v>Lack of time</c:v>
                </c:pt>
                <c:pt idx="3">
                  <c:v>Family restrictions</c:v>
                </c:pt>
                <c:pt idx="4">
                  <c:v>Lack of awareness</c:v>
                </c:pt>
                <c:pt idx="5">
                  <c:v>No major problem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27</c:v>
                </c:pt>
                <c:pt idx="1">
                  <c:v>20</c:v>
                </c:pt>
                <c:pt idx="2">
                  <c:v>16</c:v>
                </c:pt>
                <c:pt idx="3">
                  <c:v>5</c:v>
                </c:pt>
                <c:pt idx="4">
                  <c:v>12</c:v>
                </c:pt>
                <c:pt idx="5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44A-4600-830D-E391430C58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30"/>
          <c:min val="0"/>
        </c:scaling>
        <c:delete val="0"/>
        <c:axPos val="t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  <c:majorUnit val="10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10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Responses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644ED2"/>
              </a:solidFill>
            </c:spPr>
            <c:extLst>
              <c:ext xmlns:c16="http://schemas.microsoft.com/office/drawing/2014/chart" uri="{C3380CC4-5D6E-409C-BE32-E72D297353CC}">
                <c16:uniqueId val="{00000001-533B-4397-9CDB-4C69C71DBE69}"/>
              </c:ext>
            </c:extLst>
          </c:dPt>
          <c:dPt>
            <c:idx val="1"/>
            <c:invertIfNegative val="1"/>
            <c:bubble3D val="0"/>
            <c:spPr>
              <a:solidFill>
                <a:srgbClr val="644ED2"/>
              </a:solidFill>
            </c:spPr>
            <c:extLst>
              <c:ext xmlns:c16="http://schemas.microsoft.com/office/drawing/2014/chart" uri="{C3380CC4-5D6E-409C-BE32-E72D297353CC}">
                <c16:uniqueId val="{00000003-533B-4397-9CDB-4C69C71DBE69}"/>
              </c:ext>
            </c:extLst>
          </c:dPt>
          <c:dPt>
            <c:idx val="2"/>
            <c:invertIfNegative val="1"/>
            <c:bubble3D val="0"/>
            <c:spPr>
              <a:solidFill>
                <a:srgbClr val="644ED2"/>
              </a:solidFill>
            </c:spPr>
            <c:extLst>
              <c:ext xmlns:c16="http://schemas.microsoft.com/office/drawing/2014/chart" uri="{C3380CC4-5D6E-409C-BE32-E72D297353CC}">
                <c16:uniqueId val="{00000005-533B-4397-9CDB-4C69C71DBE69}"/>
              </c:ext>
            </c:extLst>
          </c:dPt>
          <c:dPt>
            <c:idx val="3"/>
            <c:invertIfNegative val="1"/>
            <c:bubble3D val="0"/>
            <c:spPr>
              <a:solidFill>
                <a:srgbClr val="644ED2"/>
              </a:solidFill>
            </c:spPr>
            <c:extLst>
              <c:ext xmlns:c16="http://schemas.microsoft.com/office/drawing/2014/chart" uri="{C3380CC4-5D6E-409C-BE32-E72D297353CC}">
                <c16:uniqueId val="{00000007-533B-4397-9CDB-4C69C71DBE69}"/>
              </c:ext>
            </c:extLst>
          </c:dPt>
          <c:dPt>
            <c:idx val="4"/>
            <c:invertIfNegative val="1"/>
            <c:bubble3D val="0"/>
            <c:spPr>
              <a:solidFill>
                <a:srgbClr val="644ED2"/>
              </a:solidFill>
            </c:spPr>
            <c:extLst>
              <c:ext xmlns:c16="http://schemas.microsoft.com/office/drawing/2014/chart" uri="{C3380CC4-5D6E-409C-BE32-E72D297353CC}">
                <c16:uniqueId val="{00000009-533B-4397-9CDB-4C69C71DBE69}"/>
              </c:ext>
            </c:extLst>
          </c:dPt>
          <c:dPt>
            <c:idx val="5"/>
            <c:invertIfNegative val="1"/>
            <c:bubble3D val="0"/>
            <c:spPr>
              <a:solidFill>
                <a:srgbClr val="644ED2"/>
              </a:solidFill>
            </c:spPr>
            <c:extLst>
              <c:ext xmlns:c16="http://schemas.microsoft.com/office/drawing/2014/chart" uri="{C3380CC4-5D6E-409C-BE32-E72D297353CC}">
                <c16:uniqueId val="{0000000B-533B-4397-9CDB-4C69C71DBE6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Cost of treatment</c:v>
                </c:pt>
                <c:pt idx="1">
                  <c:v>Lack of nearby facility</c:v>
                </c:pt>
                <c:pt idx="2">
                  <c:v>Lack of time</c:v>
                </c:pt>
                <c:pt idx="3">
                  <c:v>Family restrictions</c:v>
                </c:pt>
                <c:pt idx="4">
                  <c:v>Lack of awareness</c:v>
                </c:pt>
                <c:pt idx="5">
                  <c:v>No major problem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27</c:v>
                </c:pt>
                <c:pt idx="1">
                  <c:v>20</c:v>
                </c:pt>
                <c:pt idx="2">
                  <c:v>16</c:v>
                </c:pt>
                <c:pt idx="3">
                  <c:v>5</c:v>
                </c:pt>
                <c:pt idx="4">
                  <c:v>12</c:v>
                </c:pt>
                <c:pt idx="5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533B-4397-9CDB-4C69C71DBE6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30"/>
          <c:min val="0"/>
        </c:scaling>
        <c:delete val="0"/>
        <c:axPos val="t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  <c:majorUnit val="10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ndtv.in/utility-news/government-5-schemes-for-pregnant-women-providing-benefits-ranging-from-free-medical-treatment-to-safe-delivery-11994315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tmchealth.co.uk/clinics/shrewsbury/" TargetMode="Externa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E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791858" y="-626364"/>
            <a:ext cx="4023360" cy="4023360"/>
          </a:xfrm>
          <a:prstGeom prst="ellipse">
            <a:avLst/>
          </a:prstGeom>
          <a:blipFill>
            <a:blip r:embed="rId2">
              <a:extLs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738360" y="4215384"/>
            <a:ext cx="2926080" cy="2926080"/>
          </a:xfrm>
          <a:prstGeom prst="ellipse">
            <a:avLst/>
          </a:prstGeom>
          <a:blipFill>
            <a:blip r:embed="rId4">
              <a:extLst>
                <a:ext uri="{837473B0-CC2E-450A-ABE3-18F120FF3D39}">
                  <a1611:picAttrSrcUrl xmlns:a1611="http://schemas.microsoft.com/office/drawing/2016/11/main" r:id="rId5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024128"/>
            <a:ext cx="5943600" cy="3816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1">
                <a:solidFill>
                  <a:srgbClr val="DE5B84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FIELD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2117979"/>
            <a:ext cx="7863840" cy="118186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3600" b="1">
                <a:solidFill>
                  <a:srgbClr val="23314A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WOMEN’S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4096512"/>
            <a:ext cx="676656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600" b="0">
                <a:solidFill>
                  <a:srgbClr val="313945"/>
                </a:solidFill>
                <a:latin typeface="Aptos"/>
              </a:defRPr>
            </a:pPr>
            <a:r>
              <a:t>A survey-based study of healthcare access and everyday health practices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" y="5257800"/>
            <a:ext cx="475488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5376672"/>
            <a:ext cx="4389120" cy="6278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0">
                <a:solidFill>
                  <a:srgbClr val="697380"/>
                </a:solidFill>
                <a:latin typeface="Aptos"/>
              </a:defRPr>
            </a:pPr>
            <a:r>
              <a:rPr dirty="0"/>
              <a:t>Prepared by</a:t>
            </a:r>
            <a:r>
              <a:rPr lang="en-US" dirty="0"/>
              <a:t>: </a:t>
            </a:r>
            <a:r>
              <a:rPr lang="en-US" dirty="0" err="1"/>
              <a:t>Sushmakumari</a:t>
            </a:r>
            <a:r>
              <a:rPr lang="en-US" dirty="0"/>
              <a:t> Yadav &amp; </a:t>
            </a:r>
            <a:r>
              <a:rPr lang="en-US" dirty="0" err="1"/>
              <a:t>Krinjal</a:t>
            </a:r>
            <a:r>
              <a:rPr lang="en-US" dirty="0"/>
              <a:t> </a:t>
            </a:r>
            <a:r>
              <a:rPr lang="en-US" dirty="0" err="1"/>
              <a:t>Machhi</a:t>
            </a:r>
            <a:br>
              <a:rPr dirty="0"/>
            </a:br>
            <a:r>
              <a:rPr dirty="0" err="1"/>
              <a:t>C</a:t>
            </a:r>
            <a:r>
              <a:rPr lang="en-US" dirty="0" err="1"/>
              <a:t>oures</a:t>
            </a:r>
            <a:r>
              <a:rPr lang="en-US" dirty="0"/>
              <a:t>: SY Bsc.IT</a:t>
            </a:r>
          </a:p>
          <a:p>
            <a:pPr>
              <a:defRPr sz="1200" b="0">
                <a:solidFill>
                  <a:srgbClr val="697380"/>
                </a:solidFill>
                <a:latin typeface="Aptos"/>
              </a:defRPr>
            </a:pPr>
            <a:r>
              <a:rPr lang="en-US" dirty="0"/>
              <a:t>Roll no: 108 &amp; 34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900" b="1">
                <a:solidFill>
                  <a:srgbClr val="697380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88136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700" b="1">
                <a:solidFill>
                  <a:srgbClr val="23314A"/>
                </a:solidFill>
                <a:latin typeface="Aptos"/>
              </a:defRPr>
            </a:pPr>
            <a:r>
              <a:t>Problem Statement &amp; Why We Chose This Topic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69264"/>
            <a:ext cx="713232" cy="50292"/>
          </a:xfrm>
          <a:prstGeom prst="rect">
            <a:avLst/>
          </a:prstGeom>
          <a:solidFill>
            <a:srgbClr val="DE5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69848"/>
            <a:ext cx="106984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100" b="0">
                <a:solidFill>
                  <a:srgbClr val="697380"/>
                </a:solidFill>
                <a:latin typeface="Aptos"/>
              </a:defRPr>
            </a:pPr>
            <a:r>
              <a:t>Women’s health is influenced by access to care, awareness, time, and daily habits.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900" b="1">
                <a:solidFill>
                  <a:srgbClr val="697380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64208"/>
            <a:ext cx="5349240" cy="431596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933956" y="2258568"/>
            <a:ext cx="4480560" cy="3816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400" b="1">
                <a:solidFill>
                  <a:srgbClr val="DE5B84"/>
                </a:solidFill>
                <a:latin typeface="Aptos"/>
              </a:defRPr>
            </a:pPr>
            <a:r>
              <a:rPr sz="2000" dirty="0"/>
              <a:t>PROBLEM STATEMENT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871216"/>
            <a:ext cx="4526280" cy="1554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900" b="0">
                <a:solidFill>
                  <a:srgbClr val="313945"/>
                </a:solidFill>
                <a:latin typeface="Aptos"/>
              </a:defRPr>
            </a:pPr>
            <a:r>
              <a:rPr dirty="0"/>
              <a:t>Many women may delay preventive check-ups or face barriers to timely healthcare. Cost, distance, limited time, and lack of awareness can affect when and how people seek care.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1664208"/>
            <a:ext cx="5303520" cy="4315968"/>
          </a:xfrm>
          <a:prstGeom prst="roundRect">
            <a:avLst/>
          </a:prstGeom>
          <a:solidFill>
            <a:srgbClr val="E2F4F0"/>
          </a:solidFill>
          <a:ln>
            <a:solidFill>
              <a:srgbClr val="E2F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60" y="1938528"/>
            <a:ext cx="44805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400" b="1">
                <a:solidFill>
                  <a:srgbClr val="2D918F"/>
                </a:solidFill>
                <a:latin typeface="Aptos"/>
              </a:defRPr>
            </a:pPr>
            <a:r>
              <a:t>WHY WE CHOSE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450592"/>
            <a:ext cx="4526280" cy="29260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313945"/>
                </a:solidFill>
                <a:latin typeface="Aptos"/>
              </a:defRPr>
            </a:pPr>
            <a:r>
              <a:rPr dirty="0"/>
              <a:t>•  Women’s health deserves regular attention, not only care during illness.</a:t>
            </a:r>
          </a:p>
          <a:p>
            <a:pPr>
              <a:spcAft>
                <a:spcPts val="1400"/>
              </a:spcAft>
              <a:defRPr sz="1600">
                <a:solidFill>
                  <a:srgbClr val="313945"/>
                </a:solidFill>
                <a:latin typeface="Aptos"/>
              </a:defRPr>
            </a:pPr>
            <a:r>
              <a:rPr dirty="0"/>
              <a:t>•  Preventive check-ups can help identify concerns earlier.</a:t>
            </a:r>
          </a:p>
          <a:p>
            <a:pPr>
              <a:spcAft>
                <a:spcPts val="1400"/>
              </a:spcAft>
              <a:defRPr sz="1600">
                <a:solidFill>
                  <a:srgbClr val="313945"/>
                </a:solidFill>
                <a:latin typeface="Aptos"/>
              </a:defRPr>
            </a:pPr>
            <a:r>
              <a:rPr dirty="0"/>
              <a:t>•  Healthy sleep and physical activity support overall well-being.</a:t>
            </a:r>
          </a:p>
          <a:p>
            <a:pPr>
              <a:spcAft>
                <a:spcPts val="1400"/>
              </a:spcAft>
              <a:defRPr sz="1600">
                <a:solidFill>
                  <a:srgbClr val="313945"/>
                </a:solidFill>
                <a:latin typeface="Aptos"/>
              </a:defRPr>
            </a:pPr>
            <a:r>
              <a:rPr dirty="0"/>
              <a:t>•  Understanding barriers helps suggest practical, community-level improvements.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88136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700" b="1">
                <a:solidFill>
                  <a:srgbClr val="23314A"/>
                </a:solidFill>
                <a:latin typeface="Aptos"/>
              </a:defRPr>
            </a:pPr>
            <a:r>
              <a:t>Objectives of the Project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69264"/>
            <a:ext cx="713232" cy="50292"/>
          </a:xfrm>
          <a:prstGeom prst="rect">
            <a:avLst/>
          </a:prstGeom>
          <a:solidFill>
            <a:srgbClr val="DE5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69848"/>
            <a:ext cx="106984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100" b="0">
                <a:solidFill>
                  <a:srgbClr val="697380"/>
                </a:solidFill>
                <a:latin typeface="Aptos"/>
              </a:defRPr>
            </a:pPr>
            <a:r>
              <a:t>The study focuses on awareness, habits, and access to healthcare.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900" b="1">
                <a:solidFill>
                  <a:srgbClr val="697380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16636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002536"/>
            <a:ext cx="64008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000" b="1">
                <a:solidFill>
                  <a:srgbClr val="DE5B84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3060" y="2205881"/>
            <a:ext cx="3886200" cy="72019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700" b="1">
                <a:solidFill>
                  <a:srgbClr val="23314A"/>
                </a:solidFill>
                <a:latin typeface="Aptos"/>
              </a:defRPr>
            </a:pPr>
            <a:r>
              <a:rPr lang="en-US" sz="1400" dirty="0"/>
              <a:t> Share clear information about menstrual health, nutrition, mental well-being and personal hygine.</a:t>
            </a:r>
            <a:endParaRPr sz="1400" dirty="0"/>
          </a:p>
        </p:txBody>
      </p:sp>
      <p:sp>
        <p:nvSpPr>
          <p:cNvPr id="10" name="Rounded Rectangle 9"/>
          <p:cNvSpPr/>
          <p:nvPr/>
        </p:nvSpPr>
        <p:spPr>
          <a:xfrm>
            <a:off x="6309359" y="1783080"/>
            <a:ext cx="516636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59" y="2002536"/>
            <a:ext cx="64008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000" b="1">
                <a:solidFill>
                  <a:srgbClr val="DE5B84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59" y="2205881"/>
            <a:ext cx="3886200" cy="50475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700" b="1">
                <a:solidFill>
                  <a:srgbClr val="23314A"/>
                </a:solidFill>
                <a:latin typeface="Aptos"/>
              </a:defRPr>
            </a:pPr>
            <a:r>
              <a:rPr lang="en-US" sz="1400" dirty="0" err="1"/>
              <a:t>Encaurage</a:t>
            </a:r>
            <a:r>
              <a:rPr lang="en-US" sz="1400" dirty="0"/>
              <a:t> healthy habits through</a:t>
            </a:r>
          </a:p>
          <a:p>
            <a:pPr>
              <a:defRPr sz="1700" b="1">
                <a:solidFill>
                  <a:srgbClr val="23314A"/>
                </a:solidFill>
                <a:latin typeface="Aptos"/>
              </a:defRPr>
            </a:pPr>
            <a:r>
              <a:rPr lang="en-US" sz="1400" dirty="0"/>
              <a:t> reminder and hydration activities.</a:t>
            </a:r>
            <a:endParaRPr sz="1400" dirty="0"/>
          </a:p>
        </p:txBody>
      </p:sp>
      <p:sp>
        <p:nvSpPr>
          <p:cNvPr id="14" name="Rounded Rectangle 13"/>
          <p:cNvSpPr/>
          <p:nvPr/>
        </p:nvSpPr>
        <p:spPr>
          <a:xfrm>
            <a:off x="731520" y="3776472"/>
            <a:ext cx="516636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3995928"/>
            <a:ext cx="64008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000" b="1">
                <a:solidFill>
                  <a:srgbClr val="DE5B84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297679"/>
            <a:ext cx="3886200" cy="50475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700" b="1">
                <a:solidFill>
                  <a:srgbClr val="23314A"/>
                </a:solidFill>
                <a:latin typeface="Aptos"/>
              </a:defRPr>
            </a:pPr>
            <a:r>
              <a:rPr lang="en-US" sz="1400" dirty="0"/>
              <a:t>Help user find </a:t>
            </a:r>
            <a:r>
              <a:rPr lang="en-US" sz="1400" dirty="0" err="1"/>
              <a:t>docter</a:t>
            </a:r>
            <a:r>
              <a:rPr lang="en-US" sz="1400" dirty="0"/>
              <a:t> information and</a:t>
            </a:r>
          </a:p>
          <a:p>
            <a:pPr>
              <a:defRPr sz="1700" b="1">
                <a:solidFill>
                  <a:srgbClr val="23314A"/>
                </a:solidFill>
                <a:latin typeface="Aptos"/>
              </a:defRPr>
            </a:pPr>
            <a:r>
              <a:rPr lang="en-US" sz="1400" dirty="0"/>
              <a:t> learn  about health camps.</a:t>
            </a:r>
            <a:endParaRPr sz="1400" dirty="0"/>
          </a:p>
        </p:txBody>
      </p:sp>
      <p:sp>
        <p:nvSpPr>
          <p:cNvPr id="18" name="Rounded Rectangle 17"/>
          <p:cNvSpPr/>
          <p:nvPr/>
        </p:nvSpPr>
        <p:spPr>
          <a:xfrm>
            <a:off x="6309359" y="3776472"/>
            <a:ext cx="516636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37959" y="3995928"/>
            <a:ext cx="64008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000" b="1">
                <a:solidFill>
                  <a:srgbClr val="DE5B84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39" y="4212633"/>
            <a:ext cx="3886200" cy="50475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700" b="1">
                <a:solidFill>
                  <a:srgbClr val="23314A"/>
                </a:solidFill>
                <a:latin typeface="Aptos"/>
              </a:defRPr>
            </a:pPr>
            <a:r>
              <a:rPr lang="en-US" sz="1400" dirty="0"/>
              <a:t>Make prescription instruction easier to understand.</a:t>
            </a:r>
            <a:endParaRPr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881360" cy="4893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700" b="1">
                <a:solidFill>
                  <a:srgbClr val="23314A"/>
                </a:solidFill>
                <a:latin typeface="Aptos"/>
              </a:defRPr>
            </a:pPr>
            <a:r>
              <a:rPr dirty="0"/>
              <a:t>Survey Questions 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69264"/>
            <a:ext cx="713232" cy="50292"/>
          </a:xfrm>
          <a:prstGeom prst="rect">
            <a:avLst/>
          </a:prstGeom>
          <a:solidFill>
            <a:srgbClr val="DE5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69848"/>
            <a:ext cx="106984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100" b="0">
                <a:solidFill>
                  <a:srgbClr val="697380"/>
                </a:solidFill>
                <a:latin typeface="Aptos"/>
              </a:defRPr>
            </a:pPr>
            <a:r>
              <a:t>Responses shown in the provided survey charts.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900" b="1">
                <a:solidFill>
                  <a:srgbClr val="697380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2880360" cy="4389120"/>
          </a:xfrm>
          <a:prstGeom prst="roundRect">
            <a:avLst/>
          </a:prstGeom>
          <a:solidFill>
            <a:srgbClr val="FAE7EE"/>
          </a:solidFill>
          <a:ln>
            <a:solidFill>
              <a:srgbClr val="FA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938528"/>
            <a:ext cx="2331720" cy="6894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400" b="1">
                <a:solidFill>
                  <a:srgbClr val="DE5B84"/>
                </a:solidFill>
                <a:latin typeface="Aptos"/>
              </a:defRPr>
            </a:pPr>
            <a:r>
              <a:rPr sz="2000" dirty="0"/>
              <a:t>SURVEY SNAPSHOT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885093"/>
            <a:ext cx="2331720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3200" b="1">
                <a:solidFill>
                  <a:srgbClr val="23314A"/>
                </a:solidFill>
                <a:latin typeface="Aptos"/>
              </a:defRPr>
            </a:pPr>
            <a:r>
              <a:rPr dirty="0"/>
              <a:t>78–79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1" y="3838355"/>
            <a:ext cx="233172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300" b="0">
                <a:solidFill>
                  <a:srgbClr val="313945"/>
                </a:solidFill>
                <a:latin typeface="Aptos"/>
              </a:defRPr>
            </a:pPr>
            <a:r>
              <a:rPr dirty="0"/>
              <a:t>responses across the four displayed questions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94760" y="1645920"/>
            <a:ext cx="7726679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33087" y="1938528"/>
            <a:ext cx="69037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400" b="1">
                <a:solidFill>
                  <a:srgbClr val="2D918F"/>
                </a:solidFill>
                <a:latin typeface="Aptos"/>
              </a:defRPr>
            </a:pPr>
            <a:r>
              <a:t>QUESTIONS INCLUDED IN THE SHARED RESULTS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2487168"/>
            <a:ext cx="6858000" cy="2651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1700"/>
              </a:spcAft>
              <a:defRPr sz="1700">
                <a:solidFill>
                  <a:srgbClr val="313945"/>
                </a:solidFill>
                <a:latin typeface="Aptos"/>
              </a:defRPr>
            </a:pPr>
            <a:r>
              <a:t>•  How often do you have a health check-up?</a:t>
            </a:r>
          </a:p>
          <a:p>
            <a:pPr>
              <a:spcAft>
                <a:spcPts val="1700"/>
              </a:spcAft>
              <a:defRPr sz="1700">
                <a:solidFill>
                  <a:srgbClr val="313945"/>
                </a:solidFill>
                <a:latin typeface="Aptos"/>
              </a:defRPr>
            </a:pPr>
            <a:r>
              <a:t>•  How often do you exercise or engage in physical activity?</a:t>
            </a:r>
          </a:p>
          <a:p>
            <a:pPr>
              <a:spcAft>
                <a:spcPts val="1700"/>
              </a:spcAft>
              <a:defRPr sz="1700">
                <a:solidFill>
                  <a:srgbClr val="313945"/>
                </a:solidFill>
                <a:latin typeface="Aptos"/>
              </a:defRPr>
            </a:pPr>
            <a:r>
              <a:t>•  Do you get enough sleep?</a:t>
            </a:r>
          </a:p>
          <a:p>
            <a:pPr>
              <a:spcAft>
                <a:spcPts val="1700"/>
              </a:spcAft>
              <a:defRPr sz="1700">
                <a:solidFill>
                  <a:srgbClr val="313945"/>
                </a:solidFill>
                <a:latin typeface="Aptos"/>
              </a:defRPr>
            </a:pPr>
            <a:r>
              <a:t>•  What is the biggest problem you face in accessing healthcare?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881360" cy="4893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700" b="1">
                <a:solidFill>
                  <a:srgbClr val="23314A"/>
                </a:solidFill>
                <a:latin typeface="Aptos"/>
              </a:defRPr>
            </a:pPr>
            <a:r>
              <a:rPr dirty="0"/>
              <a:t>Survey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69264"/>
            <a:ext cx="713232" cy="50292"/>
          </a:xfrm>
          <a:prstGeom prst="rect">
            <a:avLst/>
          </a:prstGeom>
          <a:solidFill>
            <a:srgbClr val="DE5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69848"/>
            <a:ext cx="106984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100" b="0">
                <a:solidFill>
                  <a:srgbClr val="697380"/>
                </a:solidFill>
                <a:latin typeface="Aptos"/>
              </a:defRPr>
            </a:pPr>
            <a:r>
              <a:t>Percentages are reproduced from the supplied charts.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900" b="1">
                <a:solidFill>
                  <a:srgbClr val="697380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27632"/>
            <a:ext cx="54864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36208" y="1627632"/>
            <a:ext cx="53492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1810512"/>
            <a:ext cx="4956048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400" b="1">
                <a:solidFill>
                  <a:srgbClr val="23314A"/>
                </a:solidFill>
                <a:latin typeface="Aptos"/>
              </a:defRPr>
            </a:pPr>
            <a:r>
              <a:t>How often do you have a health check-up? (n=79)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2176272"/>
          <a:ext cx="5010912" cy="36850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92240" y="1810512"/>
            <a:ext cx="4828032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400" b="1">
                <a:solidFill>
                  <a:srgbClr val="23314A"/>
                </a:solidFill>
                <a:latin typeface="Aptos"/>
              </a:defRPr>
            </a:pPr>
            <a:r>
              <a:t>Do you get enough sleep? (n=78)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6464808" y="2176272"/>
          <a:ext cx="4882896" cy="36850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77240" y="6199632"/>
            <a:ext cx="106984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100" b="1">
                <a:solidFill>
                  <a:srgbClr val="23314A"/>
                </a:solidFill>
                <a:latin typeface="Aptos"/>
              </a:defRPr>
            </a:pPr>
            <a:r>
              <a:t>Key point: half of respondents reported going for a check-up only when sick; 33.3% said they always or usually get enough sleep.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881360" cy="4893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700" b="1">
                <a:solidFill>
                  <a:srgbClr val="23314A"/>
                </a:solidFill>
                <a:latin typeface="Aptos"/>
              </a:defRPr>
            </a:pPr>
            <a:r>
              <a:rPr dirty="0"/>
              <a:t>Survey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69264"/>
            <a:ext cx="713232" cy="50292"/>
          </a:xfrm>
          <a:prstGeom prst="rect">
            <a:avLst/>
          </a:prstGeom>
          <a:solidFill>
            <a:srgbClr val="DE5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69848"/>
            <a:ext cx="106984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100" b="0">
                <a:solidFill>
                  <a:srgbClr val="697380"/>
                </a:solidFill>
                <a:latin typeface="Aptos"/>
              </a:defRPr>
            </a:pPr>
            <a:r>
              <a:t>Multiple responses may be possible for the healthcare-access question.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900" b="1">
                <a:solidFill>
                  <a:srgbClr val="697380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27632"/>
            <a:ext cx="53492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08192" y="1627632"/>
            <a:ext cx="54864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1810512"/>
            <a:ext cx="480060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400" b="1">
                <a:solidFill>
                  <a:srgbClr val="23314A"/>
                </a:solidFill>
                <a:latin typeface="Aptos"/>
              </a:defRPr>
            </a:pPr>
            <a:r>
              <a:t>How often do you exercise? (n=78)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2176272"/>
          <a:ext cx="4855464" cy="36850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73368" y="1810512"/>
            <a:ext cx="4956048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400" b="1">
                <a:solidFill>
                  <a:srgbClr val="23314A"/>
                </a:solidFill>
                <a:latin typeface="Aptos"/>
              </a:defRPr>
            </a:pPr>
            <a:r>
              <a:t>Biggest problem accessing healthcare (n=78)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6382512" y="2176272"/>
          <a:ext cx="4937759" cy="36850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373368" y="1810512"/>
            <a:ext cx="4956048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400" b="1">
                <a:solidFill>
                  <a:srgbClr val="23314A"/>
                </a:solidFill>
                <a:latin typeface="Aptos"/>
              </a:defRPr>
            </a:pPr>
            <a:r>
              <a:t>Biggest problem accessing healthcare (n=78)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6382512" y="2176272"/>
          <a:ext cx="4937759" cy="36850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777240" y="6199632"/>
            <a:ext cx="106984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100" b="1">
                <a:solidFill>
                  <a:srgbClr val="23314A"/>
                </a:solidFill>
                <a:latin typeface="Aptos"/>
              </a:defRPr>
            </a:pPr>
            <a:r>
              <a:t>Top barrier: treatment cost (34.6%). 35.9% reported exercising rarely or never.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88136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700" b="1">
                <a:solidFill>
                  <a:srgbClr val="23314A"/>
                </a:solidFill>
                <a:latin typeface="Aptos"/>
              </a:defRPr>
            </a:pPr>
            <a:r>
              <a:t>Outcome, Findings &amp; 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69264"/>
            <a:ext cx="713232" cy="50292"/>
          </a:xfrm>
          <a:prstGeom prst="rect">
            <a:avLst/>
          </a:prstGeom>
          <a:solidFill>
            <a:srgbClr val="DE5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69848"/>
            <a:ext cx="106984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100" b="0">
                <a:solidFill>
                  <a:srgbClr val="697380"/>
                </a:solidFill>
                <a:latin typeface="Aptos"/>
              </a:defRPr>
            </a:pPr>
            <a:r>
              <a:t>What the survey suggests—and what can be done next.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900" b="1">
                <a:solidFill>
                  <a:srgbClr val="697380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64208"/>
            <a:ext cx="534924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938528"/>
            <a:ext cx="44805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400" b="1">
                <a:solidFill>
                  <a:srgbClr val="DE5B84"/>
                </a:solidFill>
                <a:latin typeface="Aptos"/>
              </a:defRPr>
            </a:pPr>
            <a:r>
              <a:t>KEY FINDINGS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50592"/>
            <a:ext cx="4617720" cy="31546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313945"/>
                </a:solidFill>
                <a:latin typeface="Aptos"/>
              </a:defRPr>
            </a:pPr>
            <a:r>
              <a:t>•  50.6% go for a check-up only when sick; only 5.1% reported check-ups every six months.</a:t>
            </a:r>
          </a:p>
          <a:p>
            <a:pPr>
              <a:spcAft>
                <a:spcPts val="900"/>
              </a:spcAft>
              <a:defRPr sz="1300">
                <a:solidFill>
                  <a:srgbClr val="313945"/>
                </a:solidFill>
                <a:latin typeface="Aptos"/>
              </a:defRPr>
            </a:pPr>
            <a:r>
              <a:t>•  35.9% exercise 1–2 days a week and another 35.9% rarely/never exercise.</a:t>
            </a:r>
          </a:p>
          <a:p>
            <a:pPr>
              <a:spcAft>
                <a:spcPts val="900"/>
              </a:spcAft>
              <a:defRPr sz="1300">
                <a:solidFill>
                  <a:srgbClr val="313945"/>
                </a:solidFill>
                <a:latin typeface="Aptos"/>
              </a:defRPr>
            </a:pPr>
            <a:r>
              <a:t>•  34.6% selected treatment cost as a major access problem.</a:t>
            </a:r>
          </a:p>
          <a:p>
            <a:pPr>
              <a:spcAft>
                <a:spcPts val="900"/>
              </a:spcAft>
              <a:defRPr sz="1300">
                <a:solidFill>
                  <a:srgbClr val="313945"/>
                </a:solidFill>
                <a:latin typeface="Aptos"/>
              </a:defRPr>
            </a:pPr>
            <a:r>
              <a:t>•  25.6% reported a lack of nearby facilities; 20.5% cited lack of time.</a:t>
            </a:r>
          </a:p>
          <a:p>
            <a:pPr>
              <a:spcAft>
                <a:spcPts val="900"/>
              </a:spcAft>
              <a:defRPr sz="1300">
                <a:solidFill>
                  <a:srgbClr val="313945"/>
                </a:solidFill>
                <a:latin typeface="Aptos"/>
              </a:defRPr>
            </a:pPr>
            <a:r>
              <a:t>•  Sleep responses are mixed: 39.7% usually and 26.9% always get enough sleep.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664208"/>
            <a:ext cx="5303520" cy="4434840"/>
          </a:xfrm>
          <a:prstGeom prst="roundRect">
            <a:avLst/>
          </a:prstGeom>
          <a:solidFill>
            <a:srgbClr val="E2F4F0"/>
          </a:solidFill>
          <a:ln>
            <a:solidFill>
              <a:srgbClr val="E2F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1938528"/>
            <a:ext cx="44805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400" b="1">
                <a:solidFill>
                  <a:srgbClr val="2D918F"/>
                </a:solidFill>
                <a:latin typeface="Aptos"/>
              </a:defRPr>
            </a:pPr>
            <a:r>
              <a:t>PROPOSED SOLUTIONS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450592"/>
            <a:ext cx="4526280" cy="31546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313945"/>
                </a:solidFill>
                <a:latin typeface="Aptos"/>
              </a:defRPr>
            </a:pPr>
            <a:r>
              <a:t>•  Organise affordable women’s health check-up camps and referral support.</a:t>
            </a:r>
          </a:p>
          <a:p>
            <a:pPr>
              <a:spcAft>
                <a:spcPts val="900"/>
              </a:spcAft>
              <a:defRPr sz="1300">
                <a:solidFill>
                  <a:srgbClr val="313945"/>
                </a:solidFill>
                <a:latin typeface="Aptos"/>
              </a:defRPr>
            </a:pPr>
            <a:r>
              <a:t>•  Share clear information on preventive care and when to seek medical advice.</a:t>
            </a:r>
          </a:p>
          <a:p>
            <a:pPr>
              <a:spcAft>
                <a:spcPts val="900"/>
              </a:spcAft>
              <a:defRPr sz="1300">
                <a:solidFill>
                  <a:srgbClr val="313945"/>
                </a:solidFill>
                <a:latin typeface="Aptos"/>
              </a:defRPr>
            </a:pPr>
            <a:r>
              <a:t>•  Promote small, regular activity goals and consistent sleep routines.</a:t>
            </a:r>
          </a:p>
          <a:p>
            <a:pPr>
              <a:spcAft>
                <a:spcPts val="900"/>
              </a:spcAft>
              <a:defRPr sz="1300">
                <a:solidFill>
                  <a:srgbClr val="313945"/>
                </a:solidFill>
                <a:latin typeface="Aptos"/>
              </a:defRPr>
            </a:pPr>
            <a:r>
              <a:t>•  Improve awareness of nearby clinics, public facilities, and available health schemes.</a:t>
            </a:r>
          </a:p>
          <a:p>
            <a:pPr>
              <a:spcAft>
                <a:spcPts val="900"/>
              </a:spcAft>
              <a:defRPr sz="1300">
                <a:solidFill>
                  <a:srgbClr val="313945"/>
                </a:solidFill>
                <a:latin typeface="Aptos"/>
              </a:defRPr>
            </a:pPr>
            <a:r>
              <a:t>•  Offer flexible timings and confidential, respectful care.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E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640080"/>
            <a:ext cx="2926080" cy="50475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400" b="1">
                <a:solidFill>
                  <a:srgbClr val="DE5B84"/>
                </a:solidFill>
                <a:latin typeface="Aptos"/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4380" y="1417320"/>
            <a:ext cx="8686800" cy="1234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3100" b="1">
                <a:solidFill>
                  <a:srgbClr val="23314A"/>
                </a:solidFill>
                <a:latin typeface="Aptos"/>
              </a:defRPr>
            </a:pPr>
            <a:r>
              <a:rPr dirty="0"/>
              <a:t>Small steps can make</a:t>
            </a:r>
            <a:br>
              <a:rPr dirty="0"/>
            </a:br>
            <a:r>
              <a:rPr dirty="0"/>
              <a:t>women’s healthcare stronger.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2743200"/>
            <a:ext cx="7955279" cy="1417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800" b="0">
                <a:solidFill>
                  <a:srgbClr val="313945"/>
                </a:solidFill>
                <a:latin typeface="Aptos"/>
              </a:defRPr>
            </a:pPr>
            <a:r>
              <a:t>The survey highlights opportunities to encourage preventive check-ups, regular physical activity, healthy sleep, and better access to affordable care. Community awareness and practical support can help people make informed health decisions.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5528" y="4709160"/>
            <a:ext cx="66294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4873752"/>
            <a:ext cx="210312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000" b="1">
                <a:solidFill>
                  <a:srgbClr val="2D918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8" name="Oval 7"/>
          <p:cNvSpPr/>
          <p:nvPr/>
        </p:nvSpPr>
        <p:spPr>
          <a:xfrm>
            <a:off x="9144000" y="1005840"/>
            <a:ext cx="1188720" cy="1188720"/>
          </a:xfrm>
          <a:prstGeom prst="ellipse">
            <a:avLst/>
          </a:prstGeom>
          <a:solidFill>
            <a:srgbClr val="DE5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058400" y="1920240"/>
            <a:ext cx="1645920" cy="1645920"/>
          </a:xfrm>
          <a:prstGeom prst="ellipse">
            <a:avLst/>
          </a:prstGeom>
          <a:solidFill>
            <a:srgbClr val="2D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823960" y="2926080"/>
            <a:ext cx="1280160" cy="1280160"/>
          </a:xfrm>
          <a:prstGeom prst="ellipse">
            <a:avLst/>
          </a:prstGeom>
          <a:solidFill>
            <a:srgbClr val="F2A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332720" y="3886200"/>
            <a:ext cx="1097280" cy="1097280"/>
          </a:xfrm>
          <a:prstGeom prst="ellipse">
            <a:avLst/>
          </a:prstGeom>
          <a:solidFill>
            <a:srgbClr val="DE5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900" b="1">
                <a:solidFill>
                  <a:srgbClr val="697380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618</Words>
  <Application>Microsoft Office PowerPoint</Application>
  <PresentationFormat>Widescreen</PresentationFormat>
  <Paragraphs>73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Abhishek Yadav</cp:lastModifiedBy>
  <cp:revision>2</cp:revision>
  <dcterms:created xsi:type="dcterms:W3CDTF">2013-01-27T09:14:16Z</dcterms:created>
  <dcterms:modified xsi:type="dcterms:W3CDTF">2026-10-11T10:02:58Z</dcterms:modified>
  <cp:category/>
</cp:coreProperties>
</file>